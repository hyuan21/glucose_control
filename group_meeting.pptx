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Continuous-Time Q for Off-Policy TD3-BC in Glucose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Hanzhang Yuan  ·  Spring 2026  ·  Group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Calibri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Path B math correctly implemented; stability open problem (§3.3.2) solved by spectral norm but TIR ceiling at 57% &lt; baseline 67%. Independent finding: reward normalization alone pushes baseline to 74.3%, exceeding paper adult 70%.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592927" cy="2263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54864" cy="22631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234440"/>
            <a:ext cx="5364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1.  Goal  &amp; 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600200"/>
            <a:ext cx="5318607" cy="1760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Extend offline RL (TD3-BC) to T1D glucose control.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Setup: Adult#1 patient, PID demonstrator buffer,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Magni risk reward, 3-min CGM sampling.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Prof. Zhu's directive: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apply the off-policy trick to her continuous-time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Q function (from PhiBE-Q paper).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Baselines  (TIR, time in 70-180 mg/dL):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• PID controller .............  59.5%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• TD3-BC paper baseline ..  67.5%  (FULL 100k x 3 seed)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• Paper adult Table 3a ....  70.0%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1143000"/>
            <a:ext cx="5592927" cy="2263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7287" y="1143000"/>
            <a:ext cx="54864" cy="22631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1879" y="1234440"/>
            <a:ext cx="5364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2.  Algorithm  —  Path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1879" y="1600200"/>
            <a:ext cx="5318607" cy="1760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Replace the discrete-Bellman critic target with a 2nd-order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Taylor expansion of the CT Q formula (stopped at ∇²_s Q):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  target  =  r  +  e^(-βΔt) · [</a:t>
            </a:r>
          </a:p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     Q(s,a)  +  Δs·∇_s Q  +  Δa·∇_a Q</a:t>
            </a:r>
          </a:p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     +  ½ Δsᵀ ∇²_s Q Δs  ]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Off-policy preserved: target uses only (s, a, s', r)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from the buffer + target networks.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Math verified (unit test: HVP matches full Hessian).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89020"/>
            <a:ext cx="5592927" cy="2263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589020"/>
            <a:ext cx="54864" cy="22631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680460"/>
            <a:ext cx="5364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3.  Open Problem  &amp;  Our Attack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046220"/>
            <a:ext cx="5318607" cy="1760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Under neural critic, ‖∇_s Q‖ diverges (44 → 925 in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100k steps); critic learns ill-conditioned shape;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actor degrades.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/>
            <a:r>
              <a:rPr sz="1100" b="0" i="1">
                <a:solidFill>
                  <a:srgbClr val="1E2761"/>
                </a:solidFill>
                <a:latin typeface="Calibri"/>
              </a:rPr>
              <a:t>This is exactly §3.3.2 / §5 of PhiBE-Q:</a:t>
            </a:r>
          </a:p>
          <a:p>
            <a:pPr algn="l"/>
            <a:r>
              <a:rPr sz="1100" b="0" i="1">
                <a:solidFill>
                  <a:srgbClr val="1E2761"/>
                </a:solidFill>
                <a:latin typeface="Calibri"/>
              </a:rPr>
              <a:t>“stability under deep nonlinear function approximation</a:t>
            </a:r>
          </a:p>
          <a:p>
            <a:pPr algn="l"/>
            <a:r>
              <a:rPr sz="1100" b="0" i="1">
                <a:solidFill>
                  <a:srgbClr val="1E2761"/>
                </a:solidFill>
                <a:latin typeface="Calibri"/>
              </a:rPr>
              <a:t> — convergence guarantees generally unavailable.”</a:t>
            </a:r>
          </a:p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Our attack: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spectral normalization on critic →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Lipschitz bounded by architecture →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  Lemma 3.1's assumption holds by design.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287" y="3589020"/>
            <a:ext cx="5592927" cy="2263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7287" y="3589020"/>
            <a:ext cx="54864" cy="22631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3680460"/>
            <a:ext cx="5364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4.  Results  (50k seed=0)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4046220"/>
            <a:ext cx="5318607" cy="1760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Variant                                                    TIR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Path B + neural critic ............... 5.5–59.7%  unstable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Path B + grad clip (10 → 0.5) ..  14–54%   sat. cap</a:t>
            </a:r>
          </a:p>
          <a:p>
            <a:pPr algn="l"/>
            <a:r>
              <a:rPr sz="1100" b="1" i="0">
                <a:solidFill>
                  <a:srgbClr val="D4A017"/>
                </a:solidFill>
                <a:latin typeface="Consolas"/>
              </a:rPr>
              <a:t>Path B + spectral norm (Lip=1)   57.0%   ✓ STABLE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Path B + spectral norm (Lip=5) .. 36.5%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Path B + linear basis (§3.2)   ..  3.7%   actor div.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Path B + lin. basis + fixed λ  ..  2.2%</a:t>
            </a:r>
          </a:p>
          <a:p>
            <a:pPr algn="l"/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/>
            <a:r>
              <a:rPr sz="1200" b="1" i="0">
                <a:solidFill>
                  <a:srgbClr val="1E2761"/>
                </a:solidFill>
                <a:latin typeface="Consolas"/>
              </a:rPr>
              <a:t>Baseline + reward normalization ..  74.3%  ★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(Exceeds paper adult 70%; explains HANDOFF §3 gap.)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